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4630400" cy="8229600"/>
  <p:notesSz cx="8229600" cy="14630400"/>
  <p:embeddedFontLst>
    <p:embeddedFont>
      <p:font typeface="Consolas" panose="020B0609020204030204" pitchFamily="49" charset="0"/>
      <p:regular r:id="rId14"/>
      <p:bold r:id="rId15"/>
      <p:italic r:id="rId16"/>
      <p:boldItalic r:id="rId17"/>
    </p:embeddedFont>
    <p:embeddedFont>
      <p:font typeface="Fraunces Extra Bold"/>
      <p:regular r:id="rId18"/>
    </p:embeddedFont>
    <p:embeddedFont>
      <p:font typeface="Nobile"/>
      <p:regular r:id="rId19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2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67890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sv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svg"/><Relationship Id="rId4" Type="http://schemas.openxmlformats.org/officeDocument/2006/relationships/image" Target="../media/image21.svg"/><Relationship Id="rId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93790" y="688062"/>
            <a:ext cx="7556421" cy="1204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RE:LIFE : Un Projet NSI pour l'Environnement</a:t>
            </a:r>
            <a:endParaRPr lang="en-US" sz="3750" dirty="0"/>
          </a:p>
        </p:txBody>
      </p:sp>
      <p:sp>
        <p:nvSpPr>
          <p:cNvPr id="4" name="Text 1"/>
          <p:cNvSpPr/>
          <p:nvPr/>
        </p:nvSpPr>
        <p:spPr>
          <a:xfrm>
            <a:off x="793790" y="2138720"/>
            <a:ext cx="7556421" cy="85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Découvrez </a:t>
            </a:r>
            <a:r>
              <a:rPr lang="en-US" sz="15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RE:LIFE</a:t>
            </a:r>
            <a:r>
              <a:rPr lang="en-US" sz="15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, un jeu en pixel art 2D qui plonge le joueur dans un univers post-apocalyptique inspiré de Wall-E. Incarnez un petit robot nettoyeur et redonnez vie à une planète ravagée par la pollution.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93790" y="3468052"/>
            <a:ext cx="7556421" cy="1667589"/>
          </a:xfrm>
          <a:prstGeom prst="roundRect">
            <a:avLst>
              <a:gd name="adj" fmla="val 6580"/>
            </a:avLst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793790" y="3445193"/>
            <a:ext cx="7556421" cy="91440"/>
          </a:xfrm>
          <a:prstGeom prst="roundRect">
            <a:avLst>
              <a:gd name="adj" fmla="val 189767"/>
            </a:avLst>
          </a:prstGeom>
          <a:solidFill>
            <a:srgbClr val="4389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4282797" y="3178850"/>
            <a:ext cx="578406" cy="578406"/>
          </a:xfrm>
          <a:prstGeom prst="roundRect">
            <a:avLst>
              <a:gd name="adj" fmla="val 158090"/>
            </a:avLst>
          </a:prstGeom>
          <a:solidFill>
            <a:srgbClr val="4389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4523019" y="3287740"/>
            <a:ext cx="231338" cy="289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09412" y="3950018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Concept Clé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1009412" y="4349472"/>
            <a:ext cx="7125176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Jeu 2D en pixel art où un robot nettoie une planète polluée pour abaisser un indice de pollution et restaurer l'environnement.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93790" y="5588675"/>
            <a:ext cx="7556421" cy="1952863"/>
          </a:xfrm>
          <a:prstGeom prst="roundRect">
            <a:avLst>
              <a:gd name="adj" fmla="val 5619"/>
            </a:avLst>
          </a:prstGeom>
          <a:solidFill>
            <a:srgbClr val="FAFF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793790" y="5565815"/>
            <a:ext cx="7556421" cy="91440"/>
          </a:xfrm>
          <a:prstGeom prst="roundRect">
            <a:avLst>
              <a:gd name="adj" fmla="val 189767"/>
            </a:avLst>
          </a:prstGeom>
          <a:solidFill>
            <a:srgbClr val="4389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4282797" y="5299472"/>
            <a:ext cx="578406" cy="578406"/>
          </a:xfrm>
          <a:prstGeom prst="roundRect">
            <a:avLst>
              <a:gd name="adj" fmla="val 158090"/>
            </a:avLst>
          </a:prstGeom>
          <a:solidFill>
            <a:srgbClr val="4389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4502471" y="5421213"/>
            <a:ext cx="231338" cy="289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009412" y="6070640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État Actuel</a:t>
            </a:r>
            <a:endParaRPr lang="en-US" sz="1850" dirty="0"/>
          </a:p>
        </p:txBody>
      </p:sp>
      <p:sp>
        <p:nvSpPr>
          <p:cNvPr id="16" name="Text 13"/>
          <p:cNvSpPr/>
          <p:nvPr/>
        </p:nvSpPr>
        <p:spPr>
          <a:xfrm>
            <a:off x="1009412" y="6470094"/>
            <a:ext cx="7125176" cy="85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Menu fonctionnel, introduction animée, dialogues interactifs, déplacement du robot et système d'inventaire déjà implémentés. Le jeu est en cours de développement.</a:t>
            </a:r>
            <a:endParaRPr lang="en-US" sz="1500" dirty="0"/>
          </a:p>
        </p:txBody>
      </p:sp>
      <p:pic>
        <p:nvPicPr>
          <p:cNvPr id="18" name="Image 17" descr="Une image contenant clipart, dessin humoristique, pixel&#10;&#10;Le contenu généré par l’IA peut être incorrect.">
            <a:extLst>
              <a:ext uri="{FF2B5EF4-FFF2-40B4-BE49-F238E27FC236}">
                <a16:creationId xmlns:a16="http://schemas.microsoft.com/office/drawing/2014/main" id="{1F76AC7E-9605-A74F-8A82-80DB3BE11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1729" y="771203"/>
            <a:ext cx="4534977" cy="665885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3DAB86A-3200-6F18-91F9-BB7993D0A7A0}"/>
              </a:ext>
            </a:extLst>
          </p:cNvPr>
          <p:cNvSpPr/>
          <p:nvPr/>
        </p:nvSpPr>
        <p:spPr>
          <a:xfrm>
            <a:off x="12731798" y="7754949"/>
            <a:ext cx="1898602" cy="47465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62702"/>
            <a:ext cx="4548783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Architecture du Projet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93790" y="1381125"/>
            <a:ext cx="13042821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L'organisation du code est cruciale pour un projet d'une telle envergure. RE:LIFE s'appuie sur une architecture modulaire, facilitant la collaboration et l'évolution.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93790" y="1822132"/>
            <a:ext cx="1627227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93790" y="2138124"/>
            <a:ext cx="1627227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endParaRPr lang="en-US" sz="12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389" y="2795111"/>
            <a:ext cx="453628" cy="453628"/>
          </a:xfrm>
          <a:prstGeom prst="rect">
            <a:avLst/>
          </a:prstGeom>
        </p:spPr>
      </p:pic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0009" y="5089588"/>
            <a:ext cx="441007" cy="4410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15828" y="1833205"/>
            <a:ext cx="3175516" cy="404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500" b="1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interface_accueil.py</a:t>
            </a:r>
            <a:endParaRPr lang="en-US" sz="2500" dirty="0"/>
          </a:p>
        </p:txBody>
      </p:sp>
      <p:sp>
        <p:nvSpPr>
          <p:cNvPr id="15" name="Text 11"/>
          <p:cNvSpPr/>
          <p:nvPr/>
        </p:nvSpPr>
        <p:spPr>
          <a:xfrm>
            <a:off x="2815828" y="2282071"/>
            <a:ext cx="3175516" cy="404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500" b="1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2500" dirty="0"/>
          </a:p>
        </p:txBody>
      </p:sp>
      <p:sp>
        <p:nvSpPr>
          <p:cNvPr id="16" name="Text 12"/>
          <p:cNvSpPr/>
          <p:nvPr/>
        </p:nvSpPr>
        <p:spPr>
          <a:xfrm>
            <a:off x="2815828" y="2730937"/>
            <a:ext cx="3175516" cy="396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5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assets</a:t>
            </a:r>
            <a:endParaRPr lang="en-US" sz="2500" dirty="0"/>
          </a:p>
        </p:txBody>
      </p:sp>
      <p:sp>
        <p:nvSpPr>
          <p:cNvPr id="17" name="Text 13"/>
          <p:cNvSpPr/>
          <p:nvPr/>
        </p:nvSpPr>
        <p:spPr>
          <a:xfrm>
            <a:off x="2815828" y="3172182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      sounds</a:t>
            </a:r>
            <a:endParaRPr lang="en-US" sz="1550" dirty="0"/>
          </a:p>
        </p:txBody>
      </p:sp>
      <p:sp>
        <p:nvSpPr>
          <p:cNvPr id="18" name="Text 14"/>
          <p:cNvSpPr/>
          <p:nvPr/>
        </p:nvSpPr>
        <p:spPr>
          <a:xfrm>
            <a:off x="2815828" y="3464600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      earth</a:t>
            </a:r>
            <a:endParaRPr lang="en-US" sz="1550" dirty="0"/>
          </a:p>
        </p:txBody>
      </p:sp>
      <p:sp>
        <p:nvSpPr>
          <p:cNvPr id="19" name="Text 15"/>
          <p:cNvSpPr/>
          <p:nvPr/>
        </p:nvSpPr>
        <p:spPr>
          <a:xfrm>
            <a:off x="2815828" y="3757017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      humanoid</a:t>
            </a:r>
            <a:endParaRPr lang="en-US" sz="1550" dirty="0"/>
          </a:p>
        </p:txBody>
      </p:sp>
      <p:sp>
        <p:nvSpPr>
          <p:cNvPr id="20" name="Text 16"/>
          <p:cNvSpPr/>
          <p:nvPr/>
        </p:nvSpPr>
        <p:spPr>
          <a:xfrm>
            <a:off x="2815828" y="4049435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      police</a:t>
            </a:r>
            <a:endParaRPr lang="en-US" sz="1550" dirty="0"/>
          </a:p>
        </p:txBody>
      </p:sp>
      <p:sp>
        <p:nvSpPr>
          <p:cNvPr id="21" name="Text 17"/>
          <p:cNvSpPr/>
          <p:nvPr/>
        </p:nvSpPr>
        <p:spPr>
          <a:xfrm>
            <a:off x="2815828" y="4341852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      tiles</a:t>
            </a:r>
            <a:endParaRPr lang="en-US" sz="1550" dirty="0"/>
          </a:p>
        </p:txBody>
      </p:sp>
      <p:sp>
        <p:nvSpPr>
          <p:cNvPr id="22" name="Text 18"/>
          <p:cNvSpPr/>
          <p:nvPr/>
        </p:nvSpPr>
        <p:spPr>
          <a:xfrm>
            <a:off x="2815828" y="4634270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      images</a:t>
            </a:r>
            <a:endParaRPr lang="en-US" sz="1550" dirty="0"/>
          </a:p>
        </p:txBody>
      </p:sp>
      <p:sp>
        <p:nvSpPr>
          <p:cNvPr id="23" name="Text 19"/>
          <p:cNvSpPr/>
          <p:nvPr/>
        </p:nvSpPr>
        <p:spPr>
          <a:xfrm>
            <a:off x="2815828" y="5037557"/>
            <a:ext cx="3175516" cy="396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5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classes</a:t>
            </a:r>
            <a:endParaRPr lang="en-US" sz="2500" dirty="0"/>
          </a:p>
        </p:txBody>
      </p:sp>
      <p:sp>
        <p:nvSpPr>
          <p:cNvPr id="24" name="Text 20"/>
          <p:cNvSpPr/>
          <p:nvPr/>
        </p:nvSpPr>
        <p:spPr>
          <a:xfrm>
            <a:off x="2815828" y="5478803"/>
            <a:ext cx="2027515" cy="2556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     </a:t>
            </a:r>
            <a:r>
              <a:rPr lang="en-US" sz="1550" b="1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classe_dialogue.py</a:t>
            </a:r>
            <a:endParaRPr lang="en-US" sz="1550" dirty="0"/>
          </a:p>
        </p:txBody>
      </p:sp>
      <p:sp>
        <p:nvSpPr>
          <p:cNvPr id="25" name="Text 21"/>
          <p:cNvSpPr/>
          <p:nvPr/>
        </p:nvSpPr>
        <p:spPr>
          <a:xfrm>
            <a:off x="2815828" y="5778840"/>
            <a:ext cx="1984653" cy="2556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     </a:t>
            </a:r>
            <a:r>
              <a:rPr lang="en-US" sz="1550" b="1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classe_humain.py</a:t>
            </a:r>
            <a:endParaRPr lang="en-US" sz="1550" dirty="0"/>
          </a:p>
        </p:txBody>
      </p:sp>
      <p:sp>
        <p:nvSpPr>
          <p:cNvPr id="26" name="Text 22"/>
          <p:cNvSpPr/>
          <p:nvPr/>
        </p:nvSpPr>
        <p:spPr>
          <a:xfrm>
            <a:off x="2815828" y="6078878"/>
            <a:ext cx="1984653" cy="2556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     </a:t>
            </a:r>
            <a:r>
              <a:rPr lang="en-US" sz="1550" b="1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classe_objets.py</a:t>
            </a:r>
            <a:endParaRPr lang="en-US" sz="1550" dirty="0"/>
          </a:p>
        </p:txBody>
      </p:sp>
      <p:sp>
        <p:nvSpPr>
          <p:cNvPr id="27" name="Text 23"/>
          <p:cNvSpPr/>
          <p:nvPr/>
        </p:nvSpPr>
        <p:spPr>
          <a:xfrm>
            <a:off x="2815828" y="6378915"/>
            <a:ext cx="1984653" cy="2556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     </a:t>
            </a:r>
            <a:r>
              <a:rPr lang="en-US" sz="1550" b="1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classe_tile.py</a:t>
            </a:r>
            <a:endParaRPr lang="en-US" sz="1550" dirty="0"/>
          </a:p>
        </p:txBody>
      </p:sp>
      <p:sp>
        <p:nvSpPr>
          <p:cNvPr id="28" name="Text 24"/>
          <p:cNvSpPr/>
          <p:nvPr/>
        </p:nvSpPr>
        <p:spPr>
          <a:xfrm>
            <a:off x="2815828" y="6664248"/>
            <a:ext cx="1984653" cy="2556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     </a:t>
            </a:r>
            <a:r>
              <a:rPr lang="en-US" sz="1550" b="1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def.py</a:t>
            </a:r>
            <a:endParaRPr lang="en-US" sz="1550" dirty="0"/>
          </a:p>
        </p:txBody>
      </p:sp>
      <p:sp>
        <p:nvSpPr>
          <p:cNvPr id="29" name="Text 25"/>
          <p:cNvSpPr/>
          <p:nvPr/>
        </p:nvSpPr>
        <p:spPr>
          <a:xfrm>
            <a:off x="2815828" y="6686237"/>
            <a:ext cx="5320546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2815828" y="7002229"/>
            <a:ext cx="5320546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8531185" y="2904292"/>
            <a:ext cx="3085862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Organisation des Fichiers</a:t>
            </a:r>
            <a:endParaRPr lang="en-US" sz="1850" dirty="0"/>
          </a:p>
        </p:txBody>
      </p:sp>
      <p:sp>
        <p:nvSpPr>
          <p:cNvPr id="32" name="Text 28"/>
          <p:cNvSpPr/>
          <p:nvPr/>
        </p:nvSpPr>
        <p:spPr>
          <a:xfrm>
            <a:off x="8531185" y="3313033"/>
            <a:ext cx="5320546" cy="1511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main.py 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→ Le cœur de l'application, gérant la logique principale.</a:t>
            </a:r>
            <a:endParaRPr lang="en-US" sz="1250" dirty="0"/>
          </a:p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Interface_principal.py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→ Gère l'interface et les fonctionnalités du menu principal.</a:t>
            </a:r>
            <a:endParaRPr lang="en-US" sz="1250" dirty="0"/>
          </a:p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classes/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→ Contient toutes les définitions de classes (</a:t>
            </a:r>
            <a:r>
              <a:rPr lang="en-US" sz="12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dialogue.py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, </a:t>
            </a:r>
            <a:r>
              <a:rPr lang="en-US" sz="12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humain.py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, </a:t>
            </a:r>
            <a:r>
              <a:rPr lang="en-US" sz="12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objets.py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, </a:t>
            </a:r>
            <a:r>
              <a:rPr lang="en-US" sz="12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tile.py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).</a:t>
            </a:r>
            <a:endParaRPr lang="en-US" sz="1250" dirty="0"/>
          </a:p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assets/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→ Regroupe toutes les ressources du jeu (images, sons, tuiles, sprites).</a:t>
            </a:r>
            <a:endParaRPr lang="en-US" sz="1250" dirty="0"/>
          </a:p>
        </p:txBody>
      </p:sp>
      <p:sp>
        <p:nvSpPr>
          <p:cNvPr id="33" name="Text 29"/>
          <p:cNvSpPr/>
          <p:nvPr/>
        </p:nvSpPr>
        <p:spPr>
          <a:xfrm>
            <a:off x="8531185" y="4935699"/>
            <a:ext cx="2466380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Avantages de la POO</a:t>
            </a:r>
            <a:endParaRPr lang="en-US" sz="1850" dirty="0"/>
          </a:p>
        </p:txBody>
      </p:sp>
      <p:sp>
        <p:nvSpPr>
          <p:cNvPr id="34" name="Text 30"/>
          <p:cNvSpPr/>
          <p:nvPr/>
        </p:nvSpPr>
        <p:spPr>
          <a:xfrm>
            <a:off x="8531185" y="5344441"/>
            <a:ext cx="5320546" cy="86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Code plus lisible et structuré.</a:t>
            </a:r>
            <a:endParaRPr lang="en-US" sz="1250" dirty="0"/>
          </a:p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Composants réutilisables, réduisant la duplication.</a:t>
            </a:r>
            <a:endParaRPr lang="en-US" sz="1250" dirty="0"/>
          </a:p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Facilite les modifications et l'ajout de nouvelles </a:t>
            </a:r>
            <a:r>
              <a:rPr lang="en-US" sz="1250" dirty="0" err="1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fonctionnalités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.</a:t>
            </a:r>
            <a:endParaRPr lang="en-US" sz="1250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C6AED0C-1B9D-39C2-2C7F-62966A743AAA}"/>
              </a:ext>
            </a:extLst>
          </p:cNvPr>
          <p:cNvSpPr/>
          <p:nvPr/>
        </p:nvSpPr>
        <p:spPr>
          <a:xfrm>
            <a:off x="12682937" y="7699108"/>
            <a:ext cx="1898602" cy="47465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34497"/>
            <a:ext cx="9119711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Le Système d’États : Une Orchestration Fluide</a:t>
            </a:r>
            <a:endParaRPr lang="en-US" sz="31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1522333"/>
            <a:ext cx="2734508" cy="41017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98971" y="1497330"/>
            <a:ext cx="8745141" cy="539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Au cœur de </a:t>
            </a:r>
            <a:r>
              <a:rPr lang="en-US" sz="15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main.py</a:t>
            </a:r>
            <a:r>
              <a:rPr lang="en-US" sz="15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, une machine à états garantit une transition logique et organisée entre les différentes séquences du jeu, évitant tout code spaghetti.</a:t>
            </a: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5079324" y="2569777"/>
            <a:ext cx="8745141" cy="539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Ce mécanisme est fondamental pour gérer la complexité d'un jeu vidéo, en séparant clairement les responsabilités et les comportements de chaque phase.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793790" y="5874067"/>
            <a:ext cx="13042821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93790" y="6215062"/>
            <a:ext cx="4273510" cy="1280041"/>
          </a:xfrm>
          <a:prstGeom prst="roundRect">
            <a:avLst>
              <a:gd name="adj" fmla="val 11164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952500" y="6373773"/>
            <a:ext cx="2464951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Organisation des Phases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952500" y="6688455"/>
            <a:ext cx="3956090" cy="43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Chaque état correspond à un moment précis du jeu (intro, dialogue, gameplay).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178385" y="6215062"/>
            <a:ext cx="4273510" cy="1280041"/>
          </a:xfrm>
          <a:prstGeom prst="roundRect">
            <a:avLst>
              <a:gd name="adj" fmla="val 11164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5337096" y="6373773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Clarté du Code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5337096" y="6688455"/>
            <a:ext cx="3956090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Évite les conditions imbriquées et un code illisible.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562981" y="6215062"/>
            <a:ext cx="4273510" cy="1280041"/>
          </a:xfrm>
          <a:prstGeom prst="roundRect">
            <a:avLst>
              <a:gd name="adj" fmla="val 11164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9721691" y="6373773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Transitions Douces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9721691" y="6688455"/>
            <a:ext cx="3956090" cy="647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Gère les passages fluides d'une phase à l'autre, comme l'enchaînement de l'introduction vers le dialogue, puis vers le jeu actif.</a:t>
            </a:r>
            <a:endParaRPr lang="en-US" sz="12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4A1824-896F-86B5-5865-5A986E9D5C62}"/>
              </a:ext>
            </a:extLst>
          </p:cNvPr>
          <p:cNvSpPr/>
          <p:nvPr/>
        </p:nvSpPr>
        <p:spPr>
          <a:xfrm>
            <a:off x="12682937" y="7699108"/>
            <a:ext cx="1898602" cy="47465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26068"/>
            <a:ext cx="5908596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9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Le Joueur : La Classe Humanoid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93790" y="1578412"/>
            <a:ext cx="13042821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Le robot, personnage central de notre aventure, est modélisé par la classe </a:t>
            </a:r>
            <a:r>
              <a:rPr lang="en-US" sz="11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Humanoid</a:t>
            </a:r>
            <a:r>
              <a:rPr lang="en-US" sz="11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dans </a:t>
            </a:r>
            <a:r>
              <a:rPr lang="en-US" sz="11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classe_humain.py</a:t>
            </a:r>
            <a:r>
              <a:rPr lang="en-US" sz="11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. Cette classe englobe toutes les caractéristiques et actions de notre héros mécanique.</a:t>
            </a:r>
            <a:endParaRPr lang="en-US" sz="11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401" y="3603665"/>
            <a:ext cx="5428655" cy="21714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512856" y="2170986"/>
            <a:ext cx="2225873" cy="27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Attributs Essentiels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9512856" y="2543056"/>
            <a:ext cx="4331256" cy="11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Position</a:t>
            </a:r>
            <a:r>
              <a:rPr lang="en-US" sz="11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Coordonnées du robot sur la carte.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Vitesse</a:t>
            </a:r>
            <a:r>
              <a:rPr lang="en-US" sz="11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Détermine la rapidité de ses déplacements.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Points de Vie</a:t>
            </a:r>
            <a:r>
              <a:rPr lang="en-US" sz="11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Sa résistance aux dangers.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Hotbar et Inventaire</a:t>
            </a:r>
            <a:r>
              <a:rPr lang="en-US" sz="11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Gestion des objets ramassés.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Portée de Ramassage</a:t>
            </a:r>
            <a:r>
              <a:rPr lang="en-US" sz="11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Distance à laquelle il peut interagir avec les déchets.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512856" y="3806494"/>
            <a:ext cx="2274094" cy="27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Fonctionnalités Clés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512856" y="4178564"/>
            <a:ext cx="4331256" cy="1362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Déplacement intuitif avec les touches ZQSD.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Gestion des collisions avec les limites de la carte.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Mécanique de ramassage d'objets pour nettoyer la planète.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Sélection rapide des objets de la hotbar (touches 1-5).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Affichage dynamique de la hotbar pour une expérience utilisateur optimale.</a:t>
            </a:r>
            <a:endParaRPr lang="en-US" sz="115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61B27D-7529-456D-859E-AD0CED6D47BE}"/>
              </a:ext>
            </a:extLst>
          </p:cNvPr>
          <p:cNvSpPr/>
          <p:nvPr/>
        </p:nvSpPr>
        <p:spPr>
          <a:xfrm>
            <a:off x="12682937" y="7699108"/>
            <a:ext cx="1898602" cy="47465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31545"/>
            <a:ext cx="7609761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La Carte du Jeu : Un Monde en Matrice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93790" y="1649968"/>
            <a:ext cx="13042821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Le monde de RE:LIFE est une grille dynamique, représentée par une matrice NumPy. Cette structure permet une gestion efficace et flexible de l'environnement du jeu.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93790" y="2039540"/>
            <a:ext cx="2501622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Structure de la Carte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793790" y="2448282"/>
            <a:ext cx="4313277" cy="1727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La carte est stockée comme une matrice (</a:t>
            </a:r>
            <a:r>
              <a:rPr lang="en-US" sz="12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Actual_map = D.creation_map_rectangle(20,20,0)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).</a:t>
            </a:r>
            <a:endParaRPr lang="en-US" sz="1250" dirty="0"/>
          </a:p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Chaque élément de la matrice correspond à une </a:t>
            </a:r>
            <a:r>
              <a:rPr lang="en-US" sz="12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Tile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du jeu.</a:t>
            </a:r>
            <a:endParaRPr lang="en-US" sz="1250" dirty="0"/>
          </a:p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Les tuiles ont une taille fixe (8x8 pixels) pour une cohérence visuelle.</a:t>
            </a:r>
            <a:endParaRPr lang="en-US" sz="1250" dirty="0"/>
          </a:p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La carte est générée aléatoirement, offrant une rejouabilité accrue.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93790" y="4460482"/>
            <a:ext cx="2812971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Pourquoi une Matrice ?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93790" y="4869224"/>
            <a:ext cx="4313277" cy="2159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Parcourir la carte est simple et rapide, essentiel pour les interactions du jeu.</a:t>
            </a:r>
            <a:endParaRPr lang="en-US" sz="1250" dirty="0"/>
          </a:p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C'est une représentation logique et naturelle pour un environnement 2D.</a:t>
            </a:r>
            <a:endParaRPr lang="en-US" sz="1250" dirty="0"/>
          </a:p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Permet d'intégrer facilement :</a:t>
            </a:r>
            <a:endParaRPr lang="en-US" sz="1250" dirty="0"/>
          </a:p>
          <a:p>
            <a:pPr marL="685800" lvl="1" indent="-342900" algn="l">
              <a:lnSpc>
                <a:spcPts val="1700"/>
              </a:lnSpc>
              <a:buSzPct val="100000"/>
              <a:buChar char="◦"/>
            </a:pPr>
            <a:r>
              <a:rPr lang="en-US" sz="12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L'indice de pollution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Chaque zone peut avoir un niveau de pollution.</a:t>
            </a:r>
            <a:endParaRPr lang="en-US" sz="1250" dirty="0"/>
          </a:p>
          <a:p>
            <a:pPr marL="685800" lvl="1" indent="-342900" algn="l">
              <a:lnSpc>
                <a:spcPts val="1700"/>
              </a:lnSpc>
              <a:buSzPct val="100000"/>
              <a:buChar char="◦"/>
            </a:pPr>
            <a:r>
              <a:rPr lang="en-US" sz="12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Obstacles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Définition des zones infranchissables.</a:t>
            </a:r>
            <a:endParaRPr lang="en-US" sz="1250" dirty="0"/>
          </a:p>
          <a:p>
            <a:pPr marL="685800" lvl="1" indent="-342900" algn="l">
              <a:lnSpc>
                <a:spcPts val="1700"/>
              </a:lnSpc>
              <a:buSzPct val="100000"/>
              <a:buChar char="◦"/>
            </a:pPr>
            <a:r>
              <a:rPr lang="en-US" sz="12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Objets placés</a:t>
            </a:r>
            <a:r>
              <a:rPr lang="en-US" sz="12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Disposition des déchets et autres éléments interactifs.</a:t>
            </a:r>
            <a:endParaRPr lang="en-US" sz="12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B5DAAF-83E7-1F87-C111-1D0A3B6EE729}"/>
              </a:ext>
            </a:extLst>
          </p:cNvPr>
          <p:cNvSpPr/>
          <p:nvPr/>
        </p:nvSpPr>
        <p:spPr>
          <a:xfrm>
            <a:off x="12682937" y="7699108"/>
            <a:ext cx="1898602" cy="47465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 descr="Une image contenant capture d’écran, Compositing numérique, Modélisation 3D, Logiciel de jeu vidéo&#10;&#10;Le contenu généré par l’IA peut être incorrect.">
            <a:extLst>
              <a:ext uri="{FF2B5EF4-FFF2-40B4-BE49-F238E27FC236}">
                <a16:creationId xmlns:a16="http://schemas.microsoft.com/office/drawing/2014/main" id="{467AD87E-324B-D3A3-C576-08466E35B3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510" y="2950516"/>
            <a:ext cx="6158221" cy="37923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40619"/>
            <a:ext cx="919948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Les Tiles : Les Briques du Monde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303026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La classe </a:t>
            </a:r>
            <a:r>
              <a:rPr lang="en-US" sz="17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Tile</a:t>
            </a: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est la fondation visuelle de notre univers. Chaque tuile est un bloc de construction qui, assemblé, donne vie à la planète désolée de RE:LIFE.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2927271" y="328398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Image et Rotation</a:t>
            </a:r>
            <a:endParaRPr lang="en-US" sz="2650" dirty="0"/>
          </a:p>
        </p:txBody>
      </p:sp>
      <p:sp>
        <p:nvSpPr>
          <p:cNvPr id="6" name="Text 3"/>
          <p:cNvSpPr/>
          <p:nvPr/>
        </p:nvSpPr>
        <p:spPr>
          <a:xfrm>
            <a:off x="2927271" y="3845362"/>
            <a:ext cx="424612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Chaque Tile est associée à une image et peut être pivotée pour créer de la variété visuelle et s'adapter à la génération de la carte.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9590484" y="3283982"/>
            <a:ext cx="4246126" cy="850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Affichage et Interactivité</a:t>
            </a:r>
            <a:endParaRPr lang="en-US" sz="2650" dirty="0"/>
          </a:p>
        </p:txBody>
      </p:sp>
      <p:sp>
        <p:nvSpPr>
          <p:cNvPr id="9" name="Text 5"/>
          <p:cNvSpPr/>
          <p:nvPr/>
        </p:nvSpPr>
        <p:spPr>
          <a:xfrm>
            <a:off x="9590485" y="3777317"/>
            <a:ext cx="4246126" cy="1837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La méthode </a:t>
            </a:r>
            <a:r>
              <a:rPr lang="en-US" sz="17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blit_self()</a:t>
            </a: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gère l'affichage des tuiles, permettant la construction du décor et l'intégration d'éléments interactifs comme des zones à nettoyer ou des obstacles.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793790" y="6363176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Les tiles sont la base de la composition visuelle et fonctionnelle de la carte, permettant de créer un environnement riche et cohérent.</a:t>
            </a:r>
            <a:endParaRPr lang="en-US" sz="17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F21D39-19AC-E864-B8A5-D0F0759CD2F2}"/>
              </a:ext>
            </a:extLst>
          </p:cNvPr>
          <p:cNvSpPr/>
          <p:nvPr/>
        </p:nvSpPr>
        <p:spPr>
          <a:xfrm>
            <a:off x="12682937" y="7699108"/>
            <a:ext cx="1898602" cy="47465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Image 12" descr="Une image contenant invertébré, obscurité, vert, ver&#10;&#10;Le contenu généré par l’IA peut être incorrect.">
            <a:extLst>
              <a:ext uri="{FF2B5EF4-FFF2-40B4-BE49-F238E27FC236}">
                <a16:creationId xmlns:a16="http://schemas.microsoft.com/office/drawing/2014/main" id="{9D767A9F-9304-C885-0712-39D21EC499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901" t="35793" r="30821" b="49760"/>
          <a:stretch>
            <a:fillRect/>
          </a:stretch>
        </p:blipFill>
        <p:spPr>
          <a:xfrm>
            <a:off x="7846387" y="3398998"/>
            <a:ext cx="1472813" cy="1188941"/>
          </a:xfrm>
          <a:prstGeom prst="rect">
            <a:avLst/>
          </a:prstGeom>
        </p:spPr>
      </p:pic>
      <p:pic>
        <p:nvPicPr>
          <p:cNvPr id="12" name="Image 11" descr="Une image contenant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03952ECE-40C9-1E4D-331F-6274E900F1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67" y="3028831"/>
            <a:ext cx="2444221" cy="24442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2361" y="625078"/>
            <a:ext cx="8427006" cy="530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Les Objets : L'Héritage pour la Diversité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2361" y="1409819"/>
            <a:ext cx="13045678" cy="474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Dans RE:LIFE, la manipulation des objets est au cœur du gameplay. Pour gérer la variété d'objets, nous utilisons le concept d'héritage en POO, à travers la classe </a:t>
            </a: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OBJET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92361" y="2154674"/>
            <a:ext cx="2662952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Typologie des Objets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92361" y="2599968"/>
            <a:ext cx="4296728" cy="1425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Consumable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Objets à usage unique (ex: batteries pour le robot).</a:t>
            </a:r>
            <a:endParaRPr lang="en-US" sz="1300" dirty="0"/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Tool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Outils aidant le robot dans sa tâche (ex: pince de ramassage améliorée).</a:t>
            </a:r>
            <a:endParaRPr lang="en-US" sz="1300" dirty="0"/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Plant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Éléments interactifs liés à la restauration de l'environnement.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2361" y="4152251"/>
            <a:ext cx="3422690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L'Importance de l'Héritage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47036" y="4613499"/>
            <a:ext cx="4042053" cy="252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class Plant(OBJET):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92361" y="4613499"/>
            <a:ext cx="22860" cy="252651"/>
          </a:xfrm>
          <a:prstGeom prst="rect">
            <a:avLst/>
          </a:prstGeom>
          <a:solidFill>
            <a:srgbClr val="4389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792361" y="5009144"/>
            <a:ext cx="4296728" cy="2375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Réduction de la Duplication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Les propriétés communes sont gérées par la classe </a:t>
            </a: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OBJET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, évitant de réécrire le même code.</a:t>
            </a:r>
            <a:endParaRPr lang="en-US" sz="1300" dirty="0"/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Comportements Spécifiques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Chaque sous-classe (Plant, Consumable, Tool) peut implémenter des comportements uniques adaptés à son type, tout en partageant une base commune.</a:t>
            </a:r>
            <a:endParaRPr lang="en-US" sz="1300" dirty="0"/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Extensibilité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Facilite l'ajout de nouveaux types d'objets sans modifier l'architecture existante.</a:t>
            </a:r>
            <a:endParaRPr lang="en-US" sz="13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CFDC72-EA99-FDA8-4D97-7D77878B28E6}"/>
              </a:ext>
            </a:extLst>
          </p:cNvPr>
          <p:cNvSpPr/>
          <p:nvPr/>
        </p:nvSpPr>
        <p:spPr>
          <a:xfrm>
            <a:off x="12682937" y="7699108"/>
            <a:ext cx="1898602" cy="47465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7" name="Image 26" descr="Une image contenant vert, capture d’écran, pixel, conception&#10;&#10;Le contenu généré par l’IA peut être incorrect.">
            <a:extLst>
              <a:ext uri="{FF2B5EF4-FFF2-40B4-BE49-F238E27FC236}">
                <a16:creationId xmlns:a16="http://schemas.microsoft.com/office/drawing/2014/main" id="{2BB2B65B-E25F-5BC2-95C1-9B88528766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115" b="32547"/>
          <a:stretch>
            <a:fillRect/>
          </a:stretch>
        </p:blipFill>
        <p:spPr>
          <a:xfrm>
            <a:off x="6830614" y="3336230"/>
            <a:ext cx="5917272" cy="22685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21055"/>
            <a:ext cx="8609171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Le Système de Dialogue : Récit Immersif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3790" y="1607820"/>
            <a:ext cx="1304282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La classe </a:t>
            </a: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Dialogue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donne vie au scénario de RE:LIFE, offrant une narration engageante et des interactions clés avec le joueur.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548932" y="2116931"/>
            <a:ext cx="2623066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Fonctionnalités Clés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548932" y="2563297"/>
            <a:ext cx="4295180" cy="21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Affichage Progressif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Le texte apparaît lettre par lettre, comme une machine à écrire, pour créer un effet dramatique et immersif.</a:t>
            </a:r>
            <a:endParaRPr lang="en-US" sz="1300" dirty="0"/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Son Synchronisé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Des effets sonores accompagnent l'apparition du texte, renforçant l'immersion.</a:t>
            </a:r>
            <a:endParaRPr lang="en-US" sz="1300" dirty="0"/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Passage au Message Suivant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Une mécanique simple permet au joueur de progresser dans le dialogue à son rythme.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548932" y="4834335"/>
            <a:ext cx="3672364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Défis Informatiques Relevés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548932" y="5280701"/>
            <a:ext cx="4295180" cy="1905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Gestion du Temps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Contrôle précis du délai entre chaque caractère pour l'effet "machine à écrire".</a:t>
            </a:r>
            <a:endParaRPr lang="en-US" sz="1300" dirty="0"/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Gestion des Événements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Interception des entrées du joueur pour avancer dans le dialogue.</a:t>
            </a:r>
            <a:endParaRPr lang="en-US" sz="1300" dirty="0"/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Interface Utilisateur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: Conception d'une interface claire et intégrée pour afficher le dialogue.</a:t>
            </a:r>
            <a:endParaRPr lang="en-US" sz="13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42746A-BA00-F626-8279-06D658ABB1C6}"/>
              </a:ext>
            </a:extLst>
          </p:cNvPr>
          <p:cNvSpPr/>
          <p:nvPr/>
        </p:nvSpPr>
        <p:spPr>
          <a:xfrm>
            <a:off x="12682937" y="7699108"/>
            <a:ext cx="1898602" cy="47465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Image 12" descr="Une image contenant capture d’écran, noir, conception&#10;&#10;Le contenu généré par l’IA peut être incorrect.">
            <a:extLst>
              <a:ext uri="{FF2B5EF4-FFF2-40B4-BE49-F238E27FC236}">
                <a16:creationId xmlns:a16="http://schemas.microsoft.com/office/drawing/2014/main" id="{30D94931-E97E-D281-8F75-B07739D5E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645" y="2967909"/>
            <a:ext cx="6624643" cy="37328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35211"/>
            <a:ext cx="1149119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Le Menu Principal : Votre Porte d'Entrée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1897618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Le menu principal est la première interaction du joueur avec RE:LIFE. Conçu pour être intuitif et fonctionnel, il intègre une classe </a:t>
            </a:r>
            <a:r>
              <a:rPr lang="en-US" sz="17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Button</a:t>
            </a: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pour gérer les interactions.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3790" y="2878574"/>
            <a:ext cx="680442" cy="6804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57720" y="2878574"/>
            <a:ext cx="361569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Gestion du Hover et Click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757720" y="3368993"/>
            <a:ext cx="5415677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Les boutons réagissent visuellement au survol de la souris et déclenchent des actions précises au clic.</a:t>
            </a:r>
            <a:endParaRPr lang="en-US" sz="1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56884" y="2878574"/>
            <a:ext cx="680442" cy="68044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20814" y="287857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Icônes Intuitives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8420814" y="3368993"/>
            <a:ext cx="541579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Des icônes claires et reconnaissables guident le joueur vers les différentes options.</a:t>
            </a:r>
            <a:endParaRPr lang="en-US" sz="17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3790" y="4911328"/>
            <a:ext cx="680442" cy="68044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57720" y="4911328"/>
            <a:ext cx="438531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Sous-menus Complémentaires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1757720" y="5401747"/>
            <a:ext cx="5415677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Accès à des réglages détaillés, à la gestion de la musique et à d'autres options via des sous-menus dédiés.</a:t>
            </a:r>
            <a:endParaRPr lang="en-US" sz="17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56884" y="4911328"/>
            <a:ext cx="680442" cy="68044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420814" y="491132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Lancement du Jeu</a:t>
            </a:r>
            <a:endParaRPr lang="en-US" sz="2200" dirty="0"/>
          </a:p>
        </p:txBody>
      </p:sp>
      <p:sp>
        <p:nvSpPr>
          <p:cNvPr id="15" name="Text 9"/>
          <p:cNvSpPr/>
          <p:nvPr/>
        </p:nvSpPr>
        <p:spPr>
          <a:xfrm>
            <a:off x="8420814" y="5401747"/>
            <a:ext cx="5415796" cy="111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Le jeu est lancé de manière propre via </a:t>
            </a:r>
            <a:r>
              <a:rPr lang="en-US" sz="1750" dirty="0">
                <a:solidFill>
                  <a:srgbClr val="405449"/>
                </a:solidFill>
                <a:highlight>
                  <a:srgbClr val="EDF2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subprocess</a:t>
            </a: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, garantissant une transition fluide du menu au gameplay.</a:t>
            </a:r>
            <a:endParaRPr lang="en-US" sz="1750" dirty="0"/>
          </a:p>
        </p:txBody>
      </p:sp>
      <p:sp>
        <p:nvSpPr>
          <p:cNvPr id="16" name="Text 10"/>
          <p:cNvSpPr/>
          <p:nvPr/>
        </p:nvSpPr>
        <p:spPr>
          <a:xfrm>
            <a:off x="793790" y="676846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Ce menu illustre une approche structurée pour la création d'interfaces utilisateur, essentielle pour toute application logicielle.</a:t>
            </a:r>
            <a:endParaRPr lang="en-US" sz="175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6F4173-85E8-E070-1995-799F364B8520}"/>
              </a:ext>
            </a:extLst>
          </p:cNvPr>
          <p:cNvSpPr/>
          <p:nvPr/>
        </p:nvSpPr>
        <p:spPr>
          <a:xfrm>
            <a:off x="12682937" y="7699108"/>
            <a:ext cx="1898602" cy="47465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0922" y="793433"/>
            <a:ext cx="4222671" cy="412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5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Difficultés Rencontrées : 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710922" y="1359694"/>
            <a:ext cx="13208556" cy="334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Le développement de RE:LIFE a été parsemé de défis techniques et organisationnels, qui ont enrichi notre compréhension du développement de jeux et de la programmation NSI. Voici les principaux obstacles que nous avons dû surmonter :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10922" y="1780222"/>
            <a:ext cx="13208556" cy="880705"/>
          </a:xfrm>
          <a:prstGeom prst="roundRect">
            <a:avLst>
              <a:gd name="adj" fmla="val 13493"/>
            </a:avLst>
          </a:prstGeom>
          <a:solidFill>
            <a:srgbClr val="FAFFFA"/>
          </a:solidFill>
          <a:ln w="1524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26162" y="1795463"/>
            <a:ext cx="528042" cy="850225"/>
          </a:xfrm>
          <a:prstGeom prst="roundRect">
            <a:avLst>
              <a:gd name="adj" fmla="val 19041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91183" y="2096810"/>
            <a:ext cx="198001" cy="2475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5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1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31000" y="1927384"/>
            <a:ext cx="1824752" cy="206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Gestion des Collisions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31000" y="2179677"/>
            <a:ext cx="12441317" cy="334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Implémenter une détection de collision fiable et performante pour des objets de tailles variées, tout en assurant une fluidité de mouvement du robot, a exigé une attention particulière aux algorithmes spatiaux.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10922" y="2737723"/>
            <a:ext cx="13208556" cy="792123"/>
          </a:xfrm>
          <a:prstGeom prst="roundRect">
            <a:avLst>
              <a:gd name="adj" fmla="val 15002"/>
            </a:avLst>
          </a:prstGeom>
          <a:solidFill>
            <a:srgbClr val="FAFFFA"/>
          </a:solidFill>
          <a:ln w="1524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726162" y="2752963"/>
            <a:ext cx="528042" cy="761643"/>
          </a:xfrm>
          <a:prstGeom prst="roundRect">
            <a:avLst>
              <a:gd name="adj" fmla="val 19041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891183" y="3010019"/>
            <a:ext cx="198001" cy="2475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5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2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31000" y="2884884"/>
            <a:ext cx="3400901" cy="206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Synchronisation Animations + Dialogues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31000" y="3137178"/>
            <a:ext cx="12441317" cy="16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Assurer que les animations graphiques du robot et l'apparition progressive du texte des dialogues soient parfaitement synchronisées a été un défi pour maintenir l'immersion du joueur.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0922" y="3606641"/>
            <a:ext cx="13208556" cy="880705"/>
          </a:xfrm>
          <a:prstGeom prst="roundRect">
            <a:avLst>
              <a:gd name="adj" fmla="val 13493"/>
            </a:avLst>
          </a:prstGeom>
          <a:solidFill>
            <a:srgbClr val="FAFFFA"/>
          </a:solidFill>
          <a:ln w="1524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726162" y="3621881"/>
            <a:ext cx="528042" cy="850225"/>
          </a:xfrm>
          <a:prstGeom prst="roundRect">
            <a:avLst>
              <a:gd name="adj" fmla="val 19041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891183" y="3923228"/>
            <a:ext cx="198001" cy="2475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5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3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331000" y="3753802"/>
            <a:ext cx="1805464" cy="206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Organisation du Code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31000" y="4006096"/>
            <a:ext cx="12441317" cy="334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Avec un projet grandissant, maintenir une structure de code modulaire, lisible et facilement maintenable, conforme aux bonnes pratiques de programmation orientée objet, a demandé un effort constant.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0922" y="4564142"/>
            <a:ext cx="13208556" cy="792123"/>
          </a:xfrm>
          <a:prstGeom prst="roundRect">
            <a:avLst>
              <a:gd name="adj" fmla="val 15002"/>
            </a:avLst>
          </a:prstGeom>
          <a:solidFill>
            <a:srgbClr val="FAFFFA"/>
          </a:solidFill>
          <a:ln w="1524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726162" y="4579382"/>
            <a:ext cx="528042" cy="761643"/>
          </a:xfrm>
          <a:prstGeom prst="roundRect">
            <a:avLst>
              <a:gd name="adj" fmla="val 19041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891183" y="4836438"/>
            <a:ext cx="198001" cy="2475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5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4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331000" y="4711303"/>
            <a:ext cx="1650325" cy="206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Gestion des États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331000" y="4963597"/>
            <a:ext cx="12441317" cy="16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La complexité de gérer les différents états du jeu (menu, dialogue, gameplay, inventaire) et les transitions fluides entre eux a nécessité une architecture robuste pour éviter les bugs.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2" y="5433060"/>
            <a:ext cx="13208556" cy="880705"/>
          </a:xfrm>
          <a:prstGeom prst="roundRect">
            <a:avLst>
              <a:gd name="adj" fmla="val 13493"/>
            </a:avLst>
          </a:prstGeom>
          <a:solidFill>
            <a:srgbClr val="FAFFFA"/>
          </a:solidFill>
          <a:ln w="1524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726162" y="5448300"/>
            <a:ext cx="528042" cy="850225"/>
          </a:xfrm>
          <a:prstGeom prst="roundRect">
            <a:avLst>
              <a:gd name="adj" fmla="val 19041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891183" y="5749647"/>
            <a:ext cx="198001" cy="2475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5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5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1331000" y="5580221"/>
            <a:ext cx="1650325" cy="206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Problèmes de FPS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331000" y="5832515"/>
            <a:ext cx="12441317" cy="334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Optimiser les performances pour garantir un taux de rafraîchissement (FPS) stable, même sur des machines modestes, a impliqué des choix techniques délicats en matière de rendu et de gestion des ressources.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0922" y="6390561"/>
            <a:ext cx="13208556" cy="792123"/>
          </a:xfrm>
          <a:prstGeom prst="roundRect">
            <a:avLst>
              <a:gd name="adj" fmla="val 15002"/>
            </a:avLst>
          </a:prstGeom>
          <a:solidFill>
            <a:srgbClr val="FAFFFA"/>
          </a:solidFill>
          <a:ln w="1524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726162" y="6405801"/>
            <a:ext cx="528042" cy="761643"/>
          </a:xfrm>
          <a:prstGeom prst="roundRect">
            <a:avLst>
              <a:gd name="adj" fmla="val 19041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891183" y="6662857"/>
            <a:ext cx="198001" cy="2475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5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6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1331000" y="6537722"/>
            <a:ext cx="2453997" cy="206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Gestion des Chemins d’Assets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31000" y="6790015"/>
            <a:ext cx="12441317" cy="16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Assurer que le jeu puisse trouver et charger correctement toutes ses ressources (images, sons) quel que soit l'environnement d'exécution a posé des problèmes de compatibilité des chemins d'accès.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0922" y="7269123"/>
            <a:ext cx="13208556" cy="16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Chacune de ces difficultés a été une opportunité d'apprentissage, nous poussant à explorer des solutions créatives et à approfondir nos compétences techniques.</a:t>
            </a:r>
            <a:endParaRPr lang="en-US" sz="1000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7CF1D8D-D36C-BC99-2D4C-C7ED04632967}"/>
              </a:ext>
            </a:extLst>
          </p:cNvPr>
          <p:cNvSpPr/>
          <p:nvPr/>
        </p:nvSpPr>
        <p:spPr>
          <a:xfrm>
            <a:off x="12682937" y="7699108"/>
            <a:ext cx="1898602" cy="47465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13078"/>
            <a:ext cx="13042821" cy="106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Améliorations futures : Vers un RE:LIFE encore plus immersif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3790" y="2131457"/>
            <a:ext cx="1304282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Pour enrichir l'expérience de jeu et approfondir les mécaniques de RE:LIFE, nous avons identifié plusieurs axes d'amélioration qui transformeront l'aventure du joueur.</a:t>
            </a:r>
            <a:endParaRPr lang="en-US" sz="1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3790" y="2772489"/>
            <a:ext cx="170021" cy="1700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3790" y="3017401"/>
            <a:ext cx="6457593" cy="22860"/>
          </a:xfrm>
          <a:prstGeom prst="rect">
            <a:avLst/>
          </a:prstGeom>
          <a:solidFill>
            <a:srgbClr val="4389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793790" y="3148132"/>
            <a:ext cx="2779395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Indice de Pollution Global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793790" y="3490317"/>
            <a:ext cx="645759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Intégrer un système dynamique reflétant l'impact des actions du joueur sur l'environnement.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3790" y="4242911"/>
            <a:ext cx="170021" cy="170021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3790" y="4487823"/>
            <a:ext cx="6457593" cy="22860"/>
          </a:xfrm>
          <a:prstGeom prst="rect">
            <a:avLst/>
          </a:prstGeom>
          <a:solidFill>
            <a:srgbClr val="4389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9"/>
          <p:cNvSpPr/>
          <p:nvPr/>
        </p:nvSpPr>
        <p:spPr>
          <a:xfrm>
            <a:off x="793790" y="4618553"/>
            <a:ext cx="2257782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Extension de la Carte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793790" y="4960739"/>
            <a:ext cx="645759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Développer une carte plus vaste et plus variée, offrant davantage de zones à explorer et de secrets à découvrir.</a:t>
            </a:r>
            <a:endParaRPr lang="en-US" sz="13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78898" y="2772489"/>
            <a:ext cx="170021" cy="170021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7378898" y="3017401"/>
            <a:ext cx="6457712" cy="22860"/>
          </a:xfrm>
          <a:prstGeom prst="rect">
            <a:avLst/>
          </a:prstGeom>
          <a:solidFill>
            <a:srgbClr val="4389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2"/>
          <p:cNvSpPr/>
          <p:nvPr/>
        </p:nvSpPr>
        <p:spPr>
          <a:xfrm>
            <a:off x="7378898" y="3148131"/>
            <a:ext cx="251126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Système de Sauvegarde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7378898" y="3490317"/>
            <a:ext cx="645771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Permettre aux joueurs de sauvegarder leur progression à tout moment, améliorant l'accessibilité et la flexibilité.</a:t>
            </a:r>
            <a:endParaRPr lang="en-US" sz="13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93790" y="5595378"/>
            <a:ext cx="170021" cy="170021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793790" y="5840290"/>
            <a:ext cx="6457593" cy="22860"/>
          </a:xfrm>
          <a:prstGeom prst="rect">
            <a:avLst/>
          </a:prstGeom>
          <a:solidFill>
            <a:srgbClr val="4389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5"/>
          <p:cNvSpPr/>
          <p:nvPr/>
        </p:nvSpPr>
        <p:spPr>
          <a:xfrm>
            <a:off x="793790" y="5971020"/>
            <a:ext cx="2995255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Sons d'Ambiance Immersifs</a:t>
            </a:r>
            <a:endParaRPr lang="en-US" sz="1650" dirty="0"/>
          </a:p>
        </p:txBody>
      </p:sp>
      <p:sp>
        <p:nvSpPr>
          <p:cNvPr id="23" name="Text 16"/>
          <p:cNvSpPr/>
          <p:nvPr/>
        </p:nvSpPr>
        <p:spPr>
          <a:xfrm>
            <a:off x="793790" y="6313206"/>
            <a:ext cx="645759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Implémenter des pistes sonores pour renforcer l'atmosphère et l'immersion dans l'univers désolé de RE:LIFE.</a:t>
            </a:r>
            <a:endParaRPr lang="en-US" sz="13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78898" y="4242911"/>
            <a:ext cx="170021" cy="170021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7378898" y="4487823"/>
            <a:ext cx="6457712" cy="22860"/>
          </a:xfrm>
          <a:prstGeom prst="rect">
            <a:avLst/>
          </a:prstGeom>
          <a:solidFill>
            <a:srgbClr val="4389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18"/>
          <p:cNvSpPr/>
          <p:nvPr/>
        </p:nvSpPr>
        <p:spPr>
          <a:xfrm>
            <a:off x="7378898" y="4618553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Système de Quêtes</a:t>
            </a:r>
            <a:endParaRPr lang="en-US" sz="1650" dirty="0"/>
          </a:p>
        </p:txBody>
      </p:sp>
      <p:sp>
        <p:nvSpPr>
          <p:cNvPr id="27" name="Text 19"/>
          <p:cNvSpPr/>
          <p:nvPr/>
        </p:nvSpPr>
        <p:spPr>
          <a:xfrm>
            <a:off x="7378898" y="4960739"/>
            <a:ext cx="645771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Mettre en place un mécanisme de quêtes pour guider le joueur et lui offrir des objectifs clairs et gratifiants.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793790" y="7178397"/>
            <a:ext cx="1304282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Ces ajouts permettront d'offrir une profondeur stratégique et une immersion narrative accrues, rendant RE:LIFE encore plus captivant.</a:t>
            </a:r>
            <a:endParaRPr lang="en-US" sz="13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0518B64-0C37-09CC-1956-AF2AC8FD2A8E}"/>
              </a:ext>
            </a:extLst>
          </p:cNvPr>
          <p:cNvSpPr/>
          <p:nvPr/>
        </p:nvSpPr>
        <p:spPr>
          <a:xfrm>
            <a:off x="12682937" y="7699108"/>
            <a:ext cx="1898602" cy="47465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89904531-10B5-0EB3-56C9-3098DCDB154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99838" y="5541264"/>
            <a:ext cx="196503" cy="299026"/>
          </a:xfrm>
          <a:prstGeom prst="rect">
            <a:avLst/>
          </a:prstGeom>
        </p:spPr>
      </p:pic>
      <p:sp>
        <p:nvSpPr>
          <p:cNvPr id="33" name="Shape 17">
            <a:extLst>
              <a:ext uri="{FF2B5EF4-FFF2-40B4-BE49-F238E27FC236}">
                <a16:creationId xmlns:a16="http://schemas.microsoft.com/office/drawing/2014/main" id="{3FE1975A-0569-0867-B1F9-12377EF5F146}"/>
              </a:ext>
            </a:extLst>
          </p:cNvPr>
          <p:cNvSpPr/>
          <p:nvPr/>
        </p:nvSpPr>
        <p:spPr>
          <a:xfrm>
            <a:off x="7378899" y="5851720"/>
            <a:ext cx="6457712" cy="22860"/>
          </a:xfrm>
          <a:prstGeom prst="rect">
            <a:avLst/>
          </a:prstGeom>
          <a:solidFill>
            <a:srgbClr val="4389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">
            <a:extLst>
              <a:ext uri="{FF2B5EF4-FFF2-40B4-BE49-F238E27FC236}">
                <a16:creationId xmlns:a16="http://schemas.microsoft.com/office/drawing/2014/main" id="{62CEC54C-8D9A-57A9-5186-4D54CF5AE848}"/>
              </a:ext>
            </a:extLst>
          </p:cNvPr>
          <p:cNvSpPr/>
          <p:nvPr/>
        </p:nvSpPr>
        <p:spPr>
          <a:xfrm>
            <a:off x="7403783" y="5971020"/>
            <a:ext cx="2779395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405449"/>
                </a:solidFill>
                <a:latin typeface="Fraunces Extra Bold" pitchFamily="34" charset="0"/>
              </a:rPr>
              <a:t>Un jeu </a:t>
            </a:r>
            <a:r>
              <a:rPr lang="en-US" sz="1650" b="1" dirty="0" err="1">
                <a:solidFill>
                  <a:srgbClr val="405449"/>
                </a:solidFill>
                <a:latin typeface="Fraunces Extra Bold" pitchFamily="34" charset="0"/>
              </a:rPr>
              <a:t>évolutif</a:t>
            </a:r>
            <a:endParaRPr lang="en-US" sz="1650" dirty="0"/>
          </a:p>
        </p:txBody>
      </p:sp>
      <p:sp>
        <p:nvSpPr>
          <p:cNvPr id="35" name="Text 4">
            <a:extLst>
              <a:ext uri="{FF2B5EF4-FFF2-40B4-BE49-F238E27FC236}">
                <a16:creationId xmlns:a16="http://schemas.microsoft.com/office/drawing/2014/main" id="{E307EA39-824B-17E5-5CCC-59E92B2C5FE7}"/>
              </a:ext>
            </a:extLst>
          </p:cNvPr>
          <p:cNvSpPr/>
          <p:nvPr/>
        </p:nvSpPr>
        <p:spPr>
          <a:xfrm>
            <a:off x="7403783" y="6313205"/>
            <a:ext cx="645759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Intégrer un </a:t>
            </a:r>
            <a:r>
              <a:rPr lang="en-US" sz="1300" dirty="0" err="1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système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de competence qui impact des actions du </a:t>
            </a:r>
            <a:r>
              <a:rPr lang="en-US" sz="1300" dirty="0" err="1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joueur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et son </a:t>
            </a:r>
            <a:r>
              <a:rPr lang="en-US" sz="1300" dirty="0" err="1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comportement</a:t>
            </a:r>
            <a:r>
              <a:rPr lang="en-US" sz="13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sur l'environnement.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1756</Words>
  <Application>Microsoft Office PowerPoint</Application>
  <PresentationFormat>Personnalisé</PresentationFormat>
  <Paragraphs>157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6" baseType="lpstr">
      <vt:lpstr>Fraunces Extra Bold</vt:lpstr>
      <vt:lpstr>Nobile</vt:lpstr>
      <vt:lpstr>Arial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lastModifiedBy>de-khovrin</cp:lastModifiedBy>
  <cp:revision>4</cp:revision>
  <dcterms:created xsi:type="dcterms:W3CDTF">2026-02-11T18:34:39Z</dcterms:created>
  <dcterms:modified xsi:type="dcterms:W3CDTF">2026-02-12T08:48:05Z</dcterms:modified>
</cp:coreProperties>
</file>